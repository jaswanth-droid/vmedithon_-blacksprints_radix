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F51B5"/>
                </a:solidFill>
                <a:latin typeface="Segoe UI"/>
              </a:defRPr>
            </a:pPr>
            <a:r>
              <a:t>Mnemosync</a:t>
            </a:r>
          </a:p>
          <a:p>
            <a:pPr algn="ctr">
              <a:defRPr sz="2800">
                <a:solidFill>
                  <a:srgbClr val="F0F0F0"/>
                </a:solidFill>
                <a:latin typeface="Segoe UI"/>
              </a:defRPr>
            </a:pPr>
            <a:r>
              <a:t>Recall • Reconnect • Reclaim</a:t>
            </a:r>
          </a:p>
          <a:p>
            <a:br/>
            <a:pPr algn="ctr">
              <a:defRPr sz="1800">
                <a:solidFill>
                  <a:srgbClr val="AAAAAA"/>
                </a:solidFill>
                <a:latin typeface="Segoe UI"/>
              </a:defRPr>
            </a:pPr>
            <a:r>
              <a:t>An AI-Powered Companion for Alzheimer's &amp; Dementia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  <a:r>
              <a:t>Dementia &amp; Alzheimer's strip away independence through three core daily struggles: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Face Blindness (Prosopagnosia):</a:t>
            </a:r>
            <a:r>
              <a:rPr sz="1800">
                <a:solidFill>
                  <a:srgbClr val="AAAAAA"/>
                </a:solidFill>
                <a:latin typeface="Segoe UI"/>
              </a:rPr>
              <a:t> Inability to recognize familiar faces—even family and close friends—leading to extreme social anxiety, isolation, and depression.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Conversation &amp; Context Loss:</a:t>
            </a:r>
            <a:r>
              <a:rPr sz="1800">
                <a:solidFill>
                  <a:srgbClr val="AAAAAA"/>
                </a:solidFill>
                <a:latin typeface="Segoe UI"/>
              </a:rPr>
              <a:t> Forgetting the context of a conversation minutes after it occurs, causing repetitive questioning and mounting frustration.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Routine &amp; Promise Deterioration:</a:t>
            </a:r>
            <a:r>
              <a:rPr sz="1800">
                <a:solidFill>
                  <a:srgbClr val="AAAAAA"/>
                </a:solidFill>
                <a:latin typeface="Segoe UI"/>
              </a:rPr>
              <a:t> Failure to remember short-term commitments (e.g., 'I will bring you water') or crucial daily routines (e.g., taking medication), transferring a massive coordination burden to human caregivers.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0"/>
                </a:solidFill>
                <a:latin typeface="Segoe UI"/>
              </a:defRPr>
            </a:pPr>
            <a:r>
              <a:t>Mnemosync functions as an ambient, non-intrusive 'second brain' for the user:</a:t>
            </a:r>
          </a:p>
          <a:p>
            <a:pPr>
              <a:spcBef>
                <a:spcPts val="14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Ambient Vision Context:</a:t>
            </a:r>
            <a:r>
              <a:rPr sz="1800">
                <a:solidFill>
                  <a:srgbClr val="AAAAAA"/>
                </a:solidFill>
                <a:latin typeface="Segoe UI"/>
              </a:rPr>
              <a:t> Silently recognizes faces and delivers real-time on-screen reminders of the person's identity and social history.</a:t>
            </a:r>
          </a:p>
          <a:p>
            <a:pPr>
              <a:spcBef>
                <a:spcPts val="14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Intelligent Transcript Synthesis:</a:t>
            </a:r>
            <a:r>
              <a:rPr sz="1800">
                <a:solidFill>
                  <a:srgbClr val="AAAAAA"/>
                </a:solidFill>
                <a:latin typeface="Segoe UI"/>
              </a:rPr>
              <a:t> Captures and summarizes local audio into concise 'Memory Nuggets' to maintain context.</a:t>
            </a:r>
          </a:p>
          <a:p>
            <a:pPr>
              <a:spcBef>
                <a:spcPts val="14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Automated Task Extraction:</a:t>
            </a:r>
            <a:r>
              <a:rPr sz="1800">
                <a:solidFill>
                  <a:srgbClr val="AAAAAA"/>
                </a:solidFill>
                <a:latin typeface="Segoe UI"/>
              </a:rPr>
              <a:t> Parses conversation transcripts to identify promised tasks and updates the local 'Memory Dashboard' automatically.</a:t>
            </a:r>
          </a:p>
          <a:p>
            <a:pPr>
              <a:spcBef>
                <a:spcPts val="14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Resilient Offline Architecture:</a:t>
            </a:r>
            <a:r>
              <a:rPr sz="1800">
                <a:solidFill>
                  <a:srgbClr val="AAAAAA"/>
                </a:solidFill>
                <a:latin typeface="Segoe UI"/>
              </a:rPr>
              <a:t> Utilizes a multi-tier fallback model (Gemini 3 -&gt; Gemini 2.5 -&gt; local browser models) so the user is never left without assistance during network dropouts.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Frontend &amp; Routing:</a:t>
            </a:r>
            <a:r>
              <a:rPr sz="1800">
                <a:solidFill>
                  <a:srgbClr val="AAAAAA"/>
                </a:solidFill>
                <a:latin typeface="Segoe UI"/>
              </a:rPr>
              <a:t> React 19, TypeScript, Vite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Styling &amp; Animations:</a:t>
            </a:r>
            <a:r>
              <a:rPr sz="1800">
                <a:solidFill>
                  <a:srgbClr val="AAAAAA"/>
                </a:solidFill>
                <a:latin typeface="Segoe UI"/>
              </a:rPr>
              <a:t> Modern CSS (Premium dark mode glassmorphism) &amp; Framer Motion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Primary Model:</a:t>
            </a:r>
            <a:r>
              <a:rPr sz="1800">
                <a:solidFill>
                  <a:srgbClr val="AAAAAA"/>
                </a:solidFill>
                <a:latin typeface="Segoe UI"/>
              </a:rPr>
              <a:t> Google Gemini 3 Flash (High-speed, multi-modal contextual reasoning)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Secondary Backup:</a:t>
            </a:r>
            <a:r>
              <a:rPr sz="1800">
                <a:solidFill>
                  <a:srgbClr val="AAAAAA"/>
                </a:solidFill>
                <a:latin typeface="Segoe UI"/>
              </a:rPr>
              <a:t> Google Gemini 2.5 Flash (API rate-limit &amp; quota failover protection)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Local Computer Vision:</a:t>
            </a:r>
            <a:r>
              <a:rPr sz="1800">
                <a:solidFill>
                  <a:srgbClr val="AAAAAA"/>
                </a:solidFill>
                <a:latin typeface="Segoe UI"/>
              </a:rPr>
              <a:t> React Webcam &amp; Face-API.js (Local, offline facial identification)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Offline Storage (Privacy):</a:t>
            </a:r>
            <a:r>
              <a:rPr sz="1800">
                <a:solidFill>
                  <a:srgbClr val="AAAAAA"/>
                </a:solidFill>
                <a:latin typeface="Segoe UI"/>
              </a:rPr>
              <a:t> IndexedDB (idb) for locally secured, client-side data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System Workflow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1. Sensory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60320" cy="118872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📷 Webcam Feed</a:t>
            </a:r>
            <a:br/>
            <a:r>
              <a:t>(Real-time face frames)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31920"/>
            <a:ext cx="2560320" cy="118872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🎤 Speech Input</a:t>
            </a:r>
            <a:br/>
            <a:r>
              <a:t>(Web Speech API STT)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29000" y="3291840"/>
            <a:ext cx="640080" cy="365760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2801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2. Hybrid AI Fail-Safe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383280" cy="91440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Primary: Gemini 3 Flash</a:t>
            </a:r>
            <a:br/>
            <a:r>
              <a:t>- High Context Face ID</a:t>
            </a:r>
            <a:br/>
            <a:r>
              <a:t>- Conversational Synthesis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2834640"/>
            <a:ext cx="3657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3200400"/>
            <a:ext cx="3383280" cy="91440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Backup: Gemini 2.5 Flash</a:t>
            </a:r>
            <a:br/>
            <a:r>
              <a:t>- Rate-limit Protection</a:t>
            </a:r>
            <a:br/>
            <a:r>
              <a:t>- Fallback Event Parsing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4206240"/>
            <a:ext cx="365760" cy="27432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4572000"/>
            <a:ext cx="3383280" cy="91440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Local Models &amp; Heuristics</a:t>
            </a:r>
            <a:br/>
            <a:r>
              <a:t>- face-api.js Recognition</a:t>
            </a:r>
            <a:br/>
            <a:r>
              <a:t>- Regex Task Extraction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18120" y="3291840"/>
            <a:ext cx="640080" cy="365760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28016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  <a:latin typeface="Segoe UI"/>
              </a:defRPr>
            </a:pPr>
            <a:r>
              <a:t>3. Privacy DB &amp; Dashboard</a:t>
            </a:r>
          </a:p>
        </p:txBody>
      </p:sp>
      <p:sp>
        <p:nvSpPr>
          <p:cNvPr id="15" name="Can 14"/>
          <p:cNvSpPr/>
          <p:nvPr/>
        </p:nvSpPr>
        <p:spPr>
          <a:xfrm>
            <a:off x="8641080" y="1828800"/>
            <a:ext cx="2834640" cy="1188720"/>
          </a:xfrm>
          <a:prstGeom prst="can">
            <a:avLst/>
          </a:prstGeom>
          <a:solidFill>
            <a:srgbClr val="262A33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IndexedDB (Local Storage)</a:t>
            </a:r>
            <a:br/>
            <a:r>
              <a:t>- Zero Cloud Face DB</a:t>
            </a:r>
            <a:br/>
            <a:r>
              <a:t>- Reminders &amp; Task Logs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875520" y="3200400"/>
            <a:ext cx="365760" cy="548640"/>
          </a:xfrm>
          <a:prstGeom prst="down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41080" y="3931920"/>
            <a:ext cx="2834640" cy="1645920"/>
          </a:xfrm>
          <a:prstGeom prst="roundRect">
            <a:avLst/>
          </a:prstGeom>
          <a:solidFill>
            <a:srgbClr val="262A33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0F0"/>
                </a:solidFill>
                <a:latin typeface="Segoe UI"/>
              </a:defRPr>
            </a:pPr>
            <a:r>
              <a:t>React Dashboard UI</a:t>
            </a:r>
            <a:br/>
            <a:r>
              <a:t>- Visual Memory Logs</a:t>
            </a:r>
            <a:br/>
            <a:r>
              <a:t>- Proactive Audio Alerts</a:t>
            </a:r>
            <a:br/>
            <a:r>
              <a:t>- Live Social Nudges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System Workflow Infographic</a:t>
            </a:r>
          </a:p>
        </p:txBody>
      </p:sp>
      <p:pic>
        <p:nvPicPr>
          <p:cNvPr id="3" name="Picture 2" descr="mnemosync_workflow_infograph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Concept Design &amp; Visual Interface</a:t>
            </a:r>
          </a:p>
        </p:txBody>
      </p:sp>
      <p:pic>
        <p:nvPicPr>
          <p:cNvPr id="3" name="Picture 2" descr="mnemosync_concept_art_17817195294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Restores Autonomy:</a:t>
            </a:r>
            <a:r>
              <a:rPr sz="1800">
                <a:solidFill>
                  <a:srgbClr val="AAAAAA"/>
                </a:solidFill>
                <a:latin typeface="Segoe UI"/>
              </a:rPr>
              <a:t> Empowers patients to complete daily tasks and engage with loved ones independently.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Relieves Caregiver Burnout:</a:t>
            </a:r>
            <a:r>
              <a:rPr sz="1800">
                <a:solidFill>
                  <a:srgbClr val="AAAAAA"/>
                </a:solidFill>
                <a:latin typeface="Segoe UI"/>
              </a:rPr>
              <a:t> Automatically tracks commitments, reducing the need for constant monitoring.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Scalable &amp; Accessible:</a:t>
            </a:r>
            <a:r>
              <a:rPr sz="1800">
                <a:solidFill>
                  <a:srgbClr val="AAAAAA"/>
                </a:solidFill>
                <a:latin typeface="Segoe UI"/>
              </a:rPr>
              <a:t> Fully software-based, allowing run-time performance on standard tablets and laptops without specialized clinical hardware.</a:t>
            </a:r>
          </a:p>
          <a:p>
            <a:pPr>
              <a:spcBef>
                <a:spcPts val="2000"/>
              </a:spcBef>
            </a:pPr>
            <a:r>
              <a:rPr b="1" sz="1800">
                <a:solidFill>
                  <a:srgbClr val="4CAF50"/>
                </a:solidFill>
                <a:latin typeface="Segoe UI"/>
              </a:rPr>
              <a:t>• Privacy-First Approach:</a:t>
            </a:r>
            <a:r>
              <a:rPr sz="1800">
                <a:solidFill>
                  <a:srgbClr val="AAAAAA"/>
                </a:solidFill>
                <a:latin typeface="Segoe UI"/>
              </a:rPr>
              <a:t> Zero-cloud data processing for identified faces ensures medical compliance and absolute personal privacy.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Phase 1: Hackathon Prototype (Completed)</a:t>
            </a:r>
            <a:r>
              <a:rPr sz="1800">
                <a:solidFill>
                  <a:srgbClr val="AAAAAA"/>
                </a:solidFill>
                <a:latin typeface="Segoe UI"/>
              </a:rPr>
              <a:t> Full web prototype, multi-tier AI routing logic, IndexedDB schema structure, and working vision pipeline.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Phase 2: Mobile Port &amp; Wearable R&amp;D (Months 1-6)</a:t>
            </a:r>
            <a:r>
              <a:rPr sz="1800">
                <a:solidFill>
                  <a:srgbClr val="AAAAAA"/>
                </a:solidFill>
                <a:latin typeface="Segoe UI"/>
              </a:rPr>
              <a:t> Packaging the app via React Native and exploring integration with smart glasses (e.g., heads-up-display interfaces).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Phase 3: Caregiver Portal &amp; Clinical Testing (Months 6-12)</a:t>
            </a:r>
            <a:r>
              <a:rPr sz="1800">
                <a:solidFill>
                  <a:srgbClr val="AAAAAA"/>
                </a:solidFill>
                <a:latin typeface="Segoe UI"/>
              </a:rPr>
              <a:t> Constructing a secure remote view portal for caretakers and executing pilot studies in memory facilities.</a:t>
            </a:r>
          </a:p>
          <a:p>
            <a:pPr>
              <a:spcBef>
                <a:spcPts val="1600"/>
              </a:spcBef>
            </a:pPr>
            <a:r>
              <a:rPr b="1" sz="1800">
                <a:solidFill>
                  <a:srgbClr val="3F51B5"/>
                </a:solidFill>
                <a:latin typeface="Segoe UI"/>
              </a:rPr>
              <a:t>• Phase 4: Smart Home Integration (Year 2+)</a:t>
            </a:r>
            <a:r>
              <a:rPr sz="1800">
                <a:solidFill>
                  <a:srgbClr val="AAAAAA"/>
                </a:solidFill>
                <a:latin typeface="Segoe UI"/>
              </a:rPr>
              <a:t> Connecting Mnemosync to smart home systems to trigger visual alerts on TVs or smart speakers based on task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Segoe UI"/>
              </a:defRPr>
            </a:pPr>
            <a:r>
              <a:t>Team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F51B5"/>
                </a:solidFill>
                <a:latin typeface="Segoe UI"/>
              </a:defRPr>
            </a:pPr>
            <a:r>
              <a:t>Team Mnemosync</a:t>
            </a:r>
          </a:p>
          <a:p>
            <a:pPr>
              <a:spcBef>
                <a:spcPts val="2000"/>
              </a:spcBef>
            </a:pPr>
            <a:r>
              <a:rPr b="1" sz="2000">
                <a:solidFill>
                  <a:srgbClr val="F0F0F0"/>
                </a:solidFill>
                <a:latin typeface="Segoe UI"/>
              </a:rPr>
              <a:t>• Jaswanth &amp; Team
</a:t>
            </a:r>
            <a:r>
              <a:rPr sz="1800">
                <a:solidFill>
                  <a:srgbClr val="AAAAAA"/>
                </a:solidFill>
                <a:latin typeface="Segoe UI"/>
              </a:rPr>
              <a:t>  Full-Stack &amp; AI Engineers
</a:t>
            </a:r>
          </a:p>
          <a:p>
            <a:pPr>
              <a:defRPr sz="1400" i="1">
                <a:solidFill>
                  <a:srgbClr val="AAAAAA"/>
                </a:solidFill>
                <a:latin typeface="Segoe UI"/>
              </a:defRPr>
            </a:pPr>
            <a:r>
              <a:t>(Note: You can open this file and edit these names/roles to match your team configuration before submitting!)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
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10728655" cy="4663440"/>
          </a:xfrm>
          <a:prstGeom prst="roundRect">
            <a:avLst/>
          </a:prstGeom>
          <a:solidFill>
            <a:srgbClr val="28354B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645920"/>
            <a:ext cx="9784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A5B4FC"/>
                </a:solidFill>
              </a:defRPr>
            </a:pPr>
            <a:r>
              <a:t>🏥 VASUNDHARA HOSPITAL, GHAZIABAD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194560"/>
            <a:ext cx="9784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Alzheimer's Disease Clinical Case Study</a:t>
            </a:r>
          </a:p>
          <a:p>
            <a:pPr>
              <a:spcBef>
                <a:spcPts val="800"/>
              </a:spcBef>
              <a:defRPr sz="1600">
                <a:solidFill>
                  <a:srgbClr val="CBD5E1"/>
                </a:solidFill>
              </a:defRPr>
            </a:pPr>
            <a:r>
              <a:t>Patient Assessment, Diagnostic Findings, and Care Management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4114800"/>
            <a:ext cx="97840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👤 Patient: Mrs. Sunita Sharma  (68 yrs / Female)   |   ID: VH-2026-8841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</a:defRPr>
            </a:pPr>
            <a:r>
              <a:t>👨‍⚕️ Attending Neurologist: Dr. A. K. Banerjee (MD, DM Neurology)   |   Date: 10 / 11 /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VASUNDHARA HOSPITAL, GHAZIABAD  •  PATIENT 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Patient Profile &amp; Chief Complaints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84048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3474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293B"/>
                </a:solidFill>
              </a:defRPr>
            </a:pPr>
            <a:r>
              <a:t>📋 Patient Information</a:t>
            </a:r>
          </a:p>
          <a:p>
            <a:pPr>
              <a:spcBef>
                <a:spcPts val="800"/>
              </a:spcBef>
              <a:defRPr b="1" sz="1100">
                <a:solidFill>
                  <a:srgbClr val="64748B"/>
                </a:solidFill>
              </a:defRPr>
            </a:pPr>
            <a:r>
              <a:t>Full Name: </a:t>
            </a:r>
            <a:r>
              <a:rPr b="0">
                <a:solidFill>
                  <a:srgbClr val="0F172A"/>
                </a:solidFill>
              </a:rPr>
              <a:t>Mrs. Sunita Sharma</a:t>
            </a:r>
          </a:p>
          <a:p>
            <a:pPr>
              <a:spcBef>
                <a:spcPts val="800"/>
              </a:spcBef>
              <a:defRPr b="1" sz="1100">
                <a:solidFill>
                  <a:srgbClr val="64748B"/>
                </a:solidFill>
              </a:defRPr>
            </a:pPr>
            <a:r>
              <a:t>Age / Gender: </a:t>
            </a:r>
            <a:r>
              <a:rPr b="0">
                <a:solidFill>
                  <a:srgbClr val="0F172A"/>
                </a:solidFill>
              </a:rPr>
              <a:t>68 Years / Female</a:t>
            </a:r>
          </a:p>
          <a:p>
            <a:pPr>
              <a:spcBef>
                <a:spcPts val="800"/>
              </a:spcBef>
              <a:defRPr b="1" sz="1100">
                <a:solidFill>
                  <a:srgbClr val="64748B"/>
                </a:solidFill>
              </a:defRPr>
            </a:pPr>
            <a:r>
              <a:t>Hospital ID: </a:t>
            </a:r>
            <a:r>
              <a:rPr b="0">
                <a:solidFill>
                  <a:srgbClr val="0F172A"/>
                </a:solidFill>
              </a:rPr>
              <a:t>VH-2026-8841</a:t>
            </a:r>
          </a:p>
          <a:p>
            <a:pPr>
              <a:spcBef>
                <a:spcPts val="800"/>
              </a:spcBef>
              <a:defRPr b="1" sz="1100">
                <a:solidFill>
                  <a:srgbClr val="64748B"/>
                </a:solidFill>
              </a:defRPr>
            </a:pPr>
            <a:r>
              <a:t>Consult Date: </a:t>
            </a:r>
            <a:r>
              <a:rPr b="0">
                <a:solidFill>
                  <a:srgbClr val="0F172A"/>
                </a:solidFill>
              </a:rPr>
              <a:t>10th November 2026</a:t>
            </a:r>
          </a:p>
          <a:p>
            <a:pPr>
              <a:spcBef>
                <a:spcPts val="800"/>
              </a:spcBef>
              <a:defRPr b="1" sz="1100">
                <a:solidFill>
                  <a:srgbClr val="64748B"/>
                </a:solidFill>
              </a:defRPr>
            </a:pPr>
            <a:r>
              <a:t>Department: </a:t>
            </a:r>
            <a:r>
              <a:rPr b="0">
                <a:solidFill>
                  <a:srgbClr val="0F172A"/>
                </a:solidFill>
              </a:rPr>
              <a:t>Neurology &amp; Memory Care</a:t>
            </a:r>
          </a:p>
          <a:p>
            <a:pPr>
              <a:spcBef>
                <a:spcPts val="800"/>
              </a:spcBef>
              <a:defRPr b="1" sz="1100">
                <a:solidFill>
                  <a:srgbClr val="64748B"/>
                </a:solidFill>
              </a:defRPr>
            </a:pPr>
            <a:r>
              <a:t>Consultant: </a:t>
            </a:r>
            <a:r>
              <a:rPr b="0">
                <a:solidFill>
                  <a:srgbClr val="0F172A"/>
                </a:solidFill>
              </a:rPr>
              <a:t>Dr. A. K. Banerjee</a:t>
            </a:r>
          </a:p>
          <a:p>
            <a:pPr>
              <a:spcBef>
                <a:spcPts val="800"/>
              </a:spcBef>
              <a:defRPr b="1" sz="1100">
                <a:solidFill>
                  <a:srgbClr val="64748B"/>
                </a:solidFill>
              </a:defRPr>
            </a:pPr>
            <a:r>
              <a:t>Primary Caregiver: </a:t>
            </a:r>
            <a:r>
              <a:rPr b="0">
                <a:solidFill>
                  <a:srgbClr val="0F172A"/>
                </a:solidFill>
              </a:rPr>
              <a:t>Daughter (Ananya Sharma)</a:t>
            </a:r>
          </a:p>
          <a:p>
            <a:pPr>
              <a:spcBef>
                <a:spcPts val="800"/>
              </a:spcBef>
              <a:defRPr b="1" sz="1100">
                <a:solidFill>
                  <a:srgbClr val="64748B"/>
                </a:solidFill>
              </a:defRPr>
            </a:pPr>
            <a:r>
              <a:t>Living Situation: </a:t>
            </a:r>
            <a:r>
              <a:rPr b="0">
                <a:solidFill>
                  <a:srgbClr val="0F172A"/>
                </a:solidFill>
              </a:rPr>
              <a:t>Home with family support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0" y="1371600"/>
            <a:ext cx="658368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0" y="1554480"/>
            <a:ext cx="6035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293B"/>
                </a:solidFill>
              </a:defRPr>
            </a:pPr>
            <a:r>
              <a:t>🔍 Presenting Symptoms &amp; Onset Timeline</a:t>
            </a:r>
          </a:p>
          <a:p>
            <a:pPr>
              <a:spcBef>
                <a:spcPts val="800"/>
              </a:spcBef>
              <a:defRPr b="1" sz="1200">
                <a:solidFill>
                  <a:srgbClr val="6366F1"/>
                </a:solidFill>
              </a:defRPr>
            </a:pPr>
            <a:r>
              <a:t>•  10-Month Memory Decline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   Family noticed progressive forgetfulness of recent conversations, daily plans, and dates.</a:t>
            </a:r>
          </a:p>
          <a:p>
            <a:pPr>
              <a:spcBef>
                <a:spcPts val="800"/>
              </a:spcBef>
              <a:defRPr b="1" sz="1200">
                <a:solidFill>
                  <a:srgbClr val="6366F1"/>
                </a:solidFill>
              </a:defRPr>
            </a:pPr>
            <a:r>
              <a:t>•  Spatial Disorientation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   Twice lost orientation when taking routine morning walks to the neighborhood temple.</a:t>
            </a:r>
          </a:p>
          <a:p>
            <a:pPr>
              <a:spcBef>
                <a:spcPts val="800"/>
              </a:spcBef>
              <a:defRPr b="1" sz="1200">
                <a:solidFill>
                  <a:srgbClr val="6366F1"/>
                </a:solidFill>
              </a:defRPr>
            </a:pPr>
            <a:r>
              <a:t>•  Difficulty in Complex Household Tasks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   Struggles with recipe steps, managing spice containers, and remembering stove timers.</a:t>
            </a:r>
          </a:p>
          <a:p>
            <a:pPr>
              <a:spcBef>
                <a:spcPts val="800"/>
              </a:spcBef>
              <a:defRPr b="1" sz="1200">
                <a:solidFill>
                  <a:srgbClr val="6366F1"/>
                </a:solidFill>
              </a:defRPr>
            </a:pPr>
            <a:r>
              <a:t>•  Repetitive Inquiries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   Frequently asks the same question multiple times within a 30-minute timeframe.</a:t>
            </a:r>
          </a:p>
          <a:p>
            <a:pPr>
              <a:spcBef>
                <a:spcPts val="800"/>
              </a:spcBef>
              <a:defRPr b="1" sz="1200">
                <a:solidFill>
                  <a:srgbClr val="6366F1"/>
                </a:solidFill>
              </a:defRPr>
            </a:pPr>
            <a:r>
              <a:t>•  Emotional &amp; Sleep Changes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   Mild evening anxiety and sleep fragmentation; expresses frustration over memory slips.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VASUNDHARA HOSPITAL, GHAZIABAD  •  OBJECTIVE MEASURES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Cognitive Examination (MMSE Test Breakdown)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65760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3291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4748B"/>
                </a:solidFill>
              </a:defRPr>
            </a:pPr>
            <a:r>
              <a:t>Overall Cognitive Score</a:t>
            </a:r>
          </a:p>
          <a:p>
            <a:pPr>
              <a:spcBef>
                <a:spcPts val="600"/>
              </a:spcBef>
              <a:defRPr sz="4000" b="1">
                <a:solidFill>
                  <a:srgbClr val="F59E0B"/>
                </a:solidFill>
              </a:defRPr>
            </a:pPr>
            <a:r>
              <a:t>21 / 30</a:t>
            </a:r>
          </a:p>
          <a:p>
            <a:pPr>
              <a:spcBef>
                <a:spcPts val="400"/>
              </a:spcBef>
              <a:defRPr sz="1200" b="1">
                <a:solidFill>
                  <a:srgbClr val="1E293B"/>
                </a:solidFill>
              </a:defRPr>
            </a:pPr>
            <a:r>
              <a:t>Mild-to-Moderate Cognitive Impairment</a:t>
            </a:r>
          </a:p>
          <a:p>
            <a:pPr>
              <a:spcBef>
                <a:spcPts val="1200"/>
              </a:spcBef>
              <a:defRPr sz="1100">
                <a:solidFill>
                  <a:srgbClr val="0F172A"/>
                </a:solidFill>
              </a:defRPr>
            </a:pPr>
            <a:r>
              <a:t>A score of 21/30 indicates noticeable memory and orientation lapses, but conversational speech and basic comprehension remain preserved.</a:t>
            </a:r>
          </a:p>
          <a:p>
            <a:pPr>
              <a:spcBef>
                <a:spcPts val="1400"/>
              </a:spcBef>
              <a:defRPr sz="1100">
                <a:solidFill>
                  <a:srgbClr val="64748B"/>
                </a:solidFill>
              </a:defRPr>
            </a:pPr>
            <a:r>
              <a:t>Physical Vitals:</a:t>
            </a:r>
            <a:br/>
            <a:r>
              <a:t>• Blood Pressure: 126/80 mmHg</a:t>
            </a:r>
            <a:br/>
            <a:r>
              <a:t>• Pulse Rate: 72 bpm (Regular)</a:t>
            </a:r>
            <a:br/>
            <a:r>
              <a:t>• Motor / Gait: Normal, independent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371600"/>
            <a:ext cx="676656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0" y="1554480"/>
            <a:ext cx="6217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293B"/>
                </a:solidFill>
              </a:defRPr>
            </a:pPr>
            <a:r>
              <a:t>Sub-Test Score Breakdown</a:t>
            </a:r>
          </a:p>
          <a:p>
            <a:pPr>
              <a:spcBef>
                <a:spcPts val="800"/>
              </a:spcBef>
              <a:defRPr b="1" sz="1200">
                <a:solidFill>
                  <a:srgbClr val="1E293B"/>
                </a:solidFill>
              </a:defRPr>
            </a:pPr>
            <a:r>
              <a:t>•  Orientation (Time &amp; Place): </a:t>
            </a:r>
            <a:r>
              <a:rPr b="1">
                <a:solidFill>
                  <a:srgbClr val="6366F1"/>
                </a:solidFill>
              </a:rPr>
              <a:t>[6 / 10]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Knows home city &amp; building, but confused about exact day of the week and month.</a:t>
            </a:r>
          </a:p>
          <a:p>
            <a:pPr>
              <a:spcBef>
                <a:spcPts val="800"/>
              </a:spcBef>
              <a:defRPr b="1" sz="1200">
                <a:solidFill>
                  <a:srgbClr val="1E293B"/>
                </a:solidFill>
              </a:defRPr>
            </a:pPr>
            <a:r>
              <a:t>•  Memory &amp; Delayed Recall: </a:t>
            </a:r>
            <a:r>
              <a:rPr b="1">
                <a:solidFill>
                  <a:srgbClr val="6366F1"/>
                </a:solidFill>
              </a:rPr>
              <a:t>[2 / 6]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Registered 3 objects immediately; recalled only 1 object after a 5-minute delay.</a:t>
            </a:r>
          </a:p>
          <a:p>
            <a:pPr>
              <a:spcBef>
                <a:spcPts val="800"/>
              </a:spcBef>
              <a:defRPr b="1" sz="1200">
                <a:solidFill>
                  <a:srgbClr val="1E293B"/>
                </a:solidFill>
              </a:defRPr>
            </a:pPr>
            <a:r>
              <a:t>•  Attention &amp; Calculation: </a:t>
            </a:r>
            <a:r>
              <a:rPr b="1">
                <a:solidFill>
                  <a:srgbClr val="6366F1"/>
                </a:solidFill>
              </a:rPr>
              <a:t>[4 / 5]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Completed serial 7 subtraction with 1 minor calculation error.</a:t>
            </a:r>
          </a:p>
          <a:p>
            <a:pPr>
              <a:spcBef>
                <a:spcPts val="800"/>
              </a:spcBef>
              <a:defRPr b="1" sz="1200">
                <a:solidFill>
                  <a:srgbClr val="1E293B"/>
                </a:solidFill>
              </a:defRPr>
            </a:pPr>
            <a:r>
              <a:t>•  Language, Naming &amp; Praxis: </a:t>
            </a:r>
            <a:r>
              <a:rPr b="1">
                <a:solidFill>
                  <a:srgbClr val="6366F1"/>
                </a:solidFill>
              </a:rPr>
              <a:t>[9 / 9]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Correctly named watch/pen, repeated phrases, followed 3-stage command.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VASUNDHARA HOSPITAL, GHAZIABAD  •  DIAGNOSTIC WORKUP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Imaging &amp; Laboratory Diagnostic Findings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293B"/>
                </a:solidFill>
              </a:defRPr>
            </a:pPr>
            <a:r>
              <a:t>🧠 Brain MRI Findings</a:t>
            </a:r>
          </a:p>
          <a:p>
            <a:pPr>
              <a:spcBef>
                <a:spcPts val="800"/>
              </a:spcBef>
              <a:defRPr b="1" sz="1200">
                <a:solidFill>
                  <a:srgbClr val="6366F1"/>
                </a:solidFill>
              </a:defRPr>
            </a:pPr>
            <a:r>
              <a:t>•  Medial Temporal Lobe: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   Bilateral hippocampal volume loss observed (Scheltens MTA Grade 2).</a:t>
            </a:r>
          </a:p>
          <a:p>
            <a:pPr>
              <a:spcBef>
                <a:spcPts val="800"/>
              </a:spcBef>
              <a:defRPr b="1" sz="1200">
                <a:solidFill>
                  <a:srgbClr val="6366F1"/>
                </a:solidFill>
              </a:defRPr>
            </a:pPr>
            <a:r>
              <a:t>•  Cortical Structure: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   Mild widening of cortical sulci in bilateral temporal and parietal regions.</a:t>
            </a:r>
          </a:p>
          <a:p>
            <a:pPr>
              <a:spcBef>
                <a:spcPts val="800"/>
              </a:spcBef>
              <a:defRPr b="1" sz="1200">
                <a:solidFill>
                  <a:srgbClr val="6366F1"/>
                </a:solidFill>
              </a:defRPr>
            </a:pPr>
            <a:r>
              <a:t>•  Vascular Assessment: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   Fazekas Grade 1 - minimal age-appropriate white matter changes; no acute stroke/infarct.</a:t>
            </a:r>
          </a:p>
          <a:p>
            <a:pPr>
              <a:spcBef>
                <a:spcPts val="800"/>
              </a:spcBef>
              <a:defRPr b="1" sz="1200">
                <a:solidFill>
                  <a:srgbClr val="6366F1"/>
                </a:solidFill>
              </a:defRPr>
            </a:pPr>
            <a:r>
              <a:t>•  Clinical Implication: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   Pattern is consistent with early-stage neurodegenerative Alzheimer's pathology.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371600"/>
            <a:ext cx="530352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554480"/>
            <a:ext cx="49377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293B"/>
                </a:solidFill>
              </a:defRPr>
            </a:pPr>
            <a:r>
              <a:t>🧪 Laboratory &amp; Functional Tests</a:t>
            </a:r>
          </a:p>
          <a:p>
            <a:pPr>
              <a:spcBef>
                <a:spcPts val="800"/>
              </a:spcBef>
              <a:defRPr b="1" sz="1200">
                <a:solidFill>
                  <a:srgbClr val="10B981"/>
                </a:solidFill>
              </a:defRPr>
            </a:pPr>
            <a:r>
              <a:t>•  Thyroid Panel (TSH / Free T4):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   Normal (2.1 uIU/mL) - Rule out thyroid dysfunction.</a:t>
            </a:r>
          </a:p>
          <a:p>
            <a:pPr>
              <a:spcBef>
                <a:spcPts val="800"/>
              </a:spcBef>
              <a:defRPr b="1" sz="1200">
                <a:solidFill>
                  <a:srgbClr val="10B981"/>
                </a:solidFill>
              </a:defRPr>
            </a:pPr>
            <a:r>
              <a:t>•  Serum Vitamin B12: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   Normal (480 pg/mL) - Rule out metabolic memory loss.</a:t>
            </a:r>
          </a:p>
          <a:p>
            <a:pPr>
              <a:spcBef>
                <a:spcPts val="800"/>
              </a:spcBef>
              <a:defRPr b="1" sz="1200">
                <a:solidFill>
                  <a:srgbClr val="10B981"/>
                </a:solidFill>
              </a:defRPr>
            </a:pPr>
            <a:r>
              <a:t>•  Fasting Blood Sugar &amp; HbA1c: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   HbA1c 5.6% - Non-diabetic.</a:t>
            </a:r>
          </a:p>
          <a:p>
            <a:pPr>
              <a:spcBef>
                <a:spcPts val="800"/>
              </a:spcBef>
              <a:defRPr b="1" sz="1200">
                <a:solidFill>
                  <a:srgbClr val="10B981"/>
                </a:solidFill>
              </a:defRPr>
            </a:pPr>
            <a:r>
              <a:t>•  Electroencephalogram (EEG):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   Mild slowing of alpha background rhythm in temporal leads; no epileptiform activity.</a:t>
            </a:r>
          </a:p>
          <a:p>
            <a:pPr>
              <a:spcBef>
                <a:spcPts val="800"/>
              </a:spcBef>
              <a:defRPr b="1" sz="1200">
                <a:solidFill>
                  <a:srgbClr val="10B981"/>
                </a:solidFill>
              </a:defRPr>
            </a:pPr>
            <a:r>
              <a:t>•  Differential Exclusion: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   Reversible causes of dementia ruled out by laboratory screening.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VASUNDHARA HOSPITAL, GHAZIABAD  •  CLINICAL IMPRESSION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Diagnosis &amp; Stage Assessment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728655" cy="128016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463040"/>
            <a:ext cx="10149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366F1"/>
                </a:solidFill>
              </a:defRPr>
            </a:pPr>
            <a:r>
              <a:t>Official Diagnosis: Alzheimer's Disease (Early-to-Moderate Stage)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ICD-10 / DSM-5 Criteria met: insidious onset with progressive memory deficit, confirmed by hippocampal volume reduction and MMSE 21/30.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26080"/>
            <a:ext cx="3413455" cy="3291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108960"/>
            <a:ext cx="304769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748B"/>
                </a:solidFill>
              </a:defRPr>
            </a:pPr>
            <a:r>
              <a:t>Current Condition</a:t>
            </a:r>
          </a:p>
          <a:p>
            <a:pPr>
              <a:spcBef>
                <a:spcPts val="400"/>
              </a:spcBef>
              <a:defRPr sz="1400" b="1">
                <a:solidFill>
                  <a:srgbClr val="F59E0B"/>
                </a:solidFill>
              </a:defRPr>
            </a:pPr>
            <a:r>
              <a:t>Mild-to-Moderate Memory Decline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The patient retains good physical independence and conversational ability, but requires supervision for safety, appointments, and medication schedules.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926080"/>
            <a:ext cx="3413455" cy="3291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3108960"/>
            <a:ext cx="304769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748B"/>
                </a:solidFill>
              </a:defRPr>
            </a:pPr>
            <a:r>
              <a:t>Disease Progression Rate</a:t>
            </a:r>
          </a:p>
          <a:p>
            <a:pPr>
              <a:spcBef>
                <a:spcPts val="400"/>
              </a:spcBef>
              <a:defRPr sz="1400" b="1">
                <a:solidFill>
                  <a:srgbClr val="10B981"/>
                </a:solidFill>
              </a:defRPr>
            </a:pPr>
            <a:r>
              <a:t>Moderate Velocity (Expected -2.5 pts/yr)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With timely initiation of anticholinesterase therapy and cognitive support, cognitive decline velocity can be significantly slowed.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926080"/>
            <a:ext cx="3413455" cy="3291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3108960"/>
            <a:ext cx="304769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748B"/>
                </a:solidFill>
              </a:defRPr>
            </a:pPr>
            <a:r>
              <a:t>Safety &amp; Care Risk</a:t>
            </a:r>
          </a:p>
          <a:p>
            <a:pPr>
              <a:spcBef>
                <a:spcPts val="400"/>
              </a:spcBef>
              <a:defRPr sz="1400" b="1">
                <a:solidFill>
                  <a:srgbClr val="6366F1"/>
                </a:solidFill>
              </a:defRPr>
            </a:pPr>
            <a:r>
              <a:t>Low-to-Medium Vulnerability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Main risks are getting lost outdoors and missing medication doses. Safe home environment and structured routine are key.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VASUNDHARA HOSPITAL, GHAZIABAD  •  MANAGEMENT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Comprehensive Treatment &amp; Care Plan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38328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3017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293B"/>
                </a:solidFill>
              </a:defRPr>
            </a:pPr>
            <a:r>
              <a:t>💊 Medications</a:t>
            </a:r>
          </a:p>
          <a:p>
            <a:pPr>
              <a:spcBef>
                <a:spcPts val="800"/>
              </a:spcBef>
              <a:defRPr b="1" sz="1200">
                <a:solidFill>
                  <a:srgbClr val="6366F1"/>
                </a:solidFill>
              </a:defRPr>
            </a:pPr>
            <a:r>
              <a:t>•  Donepezil (Aricept) 5mg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   Take 1 tablet daily at bedtime. Titrate to 10mg after 4 weeks if well-tolerated.</a:t>
            </a:r>
          </a:p>
          <a:p>
            <a:pPr>
              <a:spcBef>
                <a:spcPts val="800"/>
              </a:spcBef>
              <a:defRPr b="1" sz="1200">
                <a:solidFill>
                  <a:srgbClr val="6366F1"/>
                </a:solidFill>
              </a:defRPr>
            </a:pPr>
            <a:r>
              <a:t>•  Multivitamin &amp; Antioxidants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   Vitamin D3 60k IU monthly + Omega-3 supplement.</a:t>
            </a:r>
          </a:p>
          <a:p>
            <a:pPr>
              <a:spcBef>
                <a:spcPts val="800"/>
              </a:spcBef>
              <a:defRPr b="1" sz="1200">
                <a:solidFill>
                  <a:srgbClr val="6366F1"/>
                </a:solidFill>
              </a:defRPr>
            </a:pPr>
            <a:r>
              <a:t>•  Medication Dispenser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   Use labelled morning/night pill organizer managed by family.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71600"/>
            <a:ext cx="338328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554480"/>
            <a:ext cx="3017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293B"/>
                </a:solidFill>
              </a:defRPr>
            </a:pPr>
            <a:r>
              <a:t>🧩 Brain Exercises &amp; Routine</a:t>
            </a:r>
          </a:p>
          <a:p>
            <a:pPr>
              <a:spcBef>
                <a:spcPts val="800"/>
              </a:spcBef>
              <a:defRPr b="1" sz="1200">
                <a:solidFill>
                  <a:srgbClr val="10B981"/>
                </a:solidFill>
              </a:defRPr>
            </a:pPr>
            <a:r>
              <a:t>•  Daily Orientation Board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   Large white board with date, day, weather, and 3 daily activities.</a:t>
            </a:r>
          </a:p>
          <a:p>
            <a:pPr>
              <a:spcBef>
                <a:spcPts val="800"/>
              </a:spcBef>
              <a:defRPr b="1" sz="1200">
                <a:solidFill>
                  <a:srgbClr val="10B981"/>
                </a:solidFill>
              </a:defRPr>
            </a:pPr>
            <a:r>
              <a:t>•  Memory Stimulations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   Looking at labeled family photo albums, simple crosswords, listening to music.</a:t>
            </a:r>
          </a:p>
          <a:p>
            <a:pPr>
              <a:spcBef>
                <a:spcPts val="800"/>
              </a:spcBef>
              <a:defRPr b="1" sz="1200">
                <a:solidFill>
                  <a:srgbClr val="10B981"/>
                </a:solidFill>
              </a:defRPr>
            </a:pPr>
            <a:r>
              <a:t>•  Physical Exercise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   30 minutes gentle morning walk with family member in familiar park.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371600"/>
            <a:ext cx="338328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554480"/>
            <a:ext cx="3017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293B"/>
                </a:solidFill>
              </a:defRPr>
            </a:pPr>
            <a:r>
              <a:t>🛡️ Family &amp; Safety Directives</a:t>
            </a:r>
          </a:p>
          <a:p>
            <a:pPr>
              <a:spcBef>
                <a:spcPts val="800"/>
              </a:spcBef>
              <a:defRPr b="1" sz="1200">
                <a:solidFill>
                  <a:srgbClr val="F59E0B"/>
                </a:solidFill>
              </a:defRPr>
            </a:pPr>
            <a:r>
              <a:t>•  Outdoor Safety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   Provide an emergency contact ID card or wearable GPS pendant.</a:t>
            </a:r>
          </a:p>
          <a:p>
            <a:pPr>
              <a:spcBef>
                <a:spcPts val="800"/>
              </a:spcBef>
              <a:defRPr b="1" sz="1200">
                <a:solidFill>
                  <a:srgbClr val="F59E0B"/>
                </a:solidFill>
              </a:defRPr>
            </a:pPr>
            <a:r>
              <a:t>•  Kitchen &amp; Gas Safety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   Install safety knobs or auto-shutoff valves on gas stoves.</a:t>
            </a:r>
          </a:p>
          <a:p>
            <a:pPr>
              <a:spcBef>
                <a:spcPts val="800"/>
              </a:spcBef>
              <a:defRPr b="1" sz="1200">
                <a:solidFill>
                  <a:srgbClr val="F59E0B"/>
                </a:solidFill>
              </a:defRPr>
            </a:pPr>
            <a:r>
              <a:t>•  Emotional Validation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   Avoid arguing during memory lapses; offer gentle reassurance.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VASUNDHARA HOSPITAL, GHAZIABAD  •  LONGITUDINAL MONITORING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Monitoring Schedule &amp; Follow-Up Milestones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413455" cy="4023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30476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293B"/>
                </a:solidFill>
              </a:defRPr>
            </a:pPr>
            <a:r>
              <a:t>1 Month Check</a:t>
            </a:r>
          </a:p>
          <a:p>
            <a:pPr>
              <a:spcBef>
                <a:spcPts val="400"/>
              </a:spcBef>
              <a:defRPr sz="1200" b="1">
                <a:solidFill>
                  <a:srgbClr val="6366F1"/>
                </a:solidFill>
              </a:defRPr>
            </a:pPr>
            <a:r>
              <a:t>10th December 2026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</a:defRPr>
            </a:pPr>
            <a:r>
              <a:t>Medication Tolerance Review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• Check Donepezil 5mg tolerance (nausea, sleep)</a:t>
            </a:r>
            <a:br/>
            <a:r>
              <a:t>• Step up dosage to 10mg if well tolerated</a:t>
            </a:r>
            <a:br/>
            <a:r>
              <a:t>• Review daily orientation board adoption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71600"/>
            <a:ext cx="3413455" cy="4023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554480"/>
            <a:ext cx="30476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293B"/>
                </a:solidFill>
              </a:defRPr>
            </a:pPr>
            <a:r>
              <a:t>3 Month Follow-Up</a:t>
            </a:r>
          </a:p>
          <a:p>
            <a:pPr>
              <a:spcBef>
                <a:spcPts val="400"/>
              </a:spcBef>
              <a:defRPr sz="1200" b="1">
                <a:solidFill>
                  <a:srgbClr val="6366F1"/>
                </a:solidFill>
              </a:defRPr>
            </a:pPr>
            <a:r>
              <a:t>10th February 2027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</a:defRPr>
            </a:pPr>
            <a:r>
              <a:t>Cognitive Staging &amp; MMSE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• Formal Repeat MMSE screening</a:t>
            </a:r>
            <a:br/>
            <a:r>
              <a:t>• Evaluate spatial navigation stability</a:t>
            </a:r>
            <a:br/>
            <a:r>
              <a:t>• Adjust caregiver assistance level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371600"/>
            <a:ext cx="3413455" cy="4023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554480"/>
            <a:ext cx="30476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293B"/>
                </a:solidFill>
              </a:defRPr>
            </a:pPr>
            <a:r>
              <a:t>6 Month Re-assessment</a:t>
            </a:r>
          </a:p>
          <a:p>
            <a:pPr>
              <a:spcBef>
                <a:spcPts val="400"/>
              </a:spcBef>
              <a:defRPr sz="1200" b="1">
                <a:solidFill>
                  <a:srgbClr val="6366F1"/>
                </a:solidFill>
              </a:defRPr>
            </a:pPr>
            <a:r>
              <a:t>10th May 2027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</a:defRPr>
            </a:pPr>
            <a:r>
              <a:t>Full Neuro-Psych Evaluation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• Compare longitudinal MMSE rate of change</a:t>
            </a:r>
            <a:br/>
            <a:r>
              <a:t>• Repeat volumetric brain MRI if needed</a:t>
            </a:r>
            <a:br/>
            <a:r>
              <a:t>• Long-term family support planning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577840"/>
            <a:ext cx="10728655" cy="8229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66928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👨‍⚕️ Attending Physician: Dr. A. K. Banerjee (MD, DM Neuro)   •   Vasundhara Hospital, Ghaziabad   •   Emergency Support: +91-120-4567890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